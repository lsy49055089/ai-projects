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18234c4a74f7f" /><Relationship Type="http://schemas.openxmlformats.org/officeDocument/2006/relationships/extended-properties" Target="/docProps/app.xml" Id="Rd091e0c425ce4a22" /><Relationship Type="http://schemas.openxmlformats.org/officeDocument/2006/relationships/officeDocument" Target="/ppt/presentation.xml" Id="R4f1e573288d0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fb57a3c8064445"/>
  </p:sldMasterIdLst>
  <p:notesMasterIdLst>
    <p:notesMasterId xmlns:r="http://schemas.openxmlformats.org/officeDocument/2006/relationships" r:id="R05eace05ac394f85"/>
  </p:notesMasterIdLst>
  <p:sldIdLst>
    <p:sldId xmlns:r="http://schemas.openxmlformats.org/officeDocument/2006/relationships" id="256" r:id="R42d5efa104b54cd1"/>
    <p:sldId xmlns:r="http://schemas.openxmlformats.org/officeDocument/2006/relationships" id="257" r:id="Rdb06358fb09c4bf1"/>
    <p:sldId xmlns:r="http://schemas.openxmlformats.org/officeDocument/2006/relationships" id="258" r:id="Rbc5074909090474a"/>
    <p:sldId xmlns:r="http://schemas.openxmlformats.org/officeDocument/2006/relationships" id="259" r:id="R5c0c9f3288c84ebb"/>
    <p:sldId xmlns:r="http://schemas.openxmlformats.org/officeDocument/2006/relationships" id="260" r:id="R6b1bd1c23aaa40cf"/>
    <p:sldId xmlns:r="http://schemas.openxmlformats.org/officeDocument/2006/relationships" id="261" r:id="R55f6670d33a84d28"/>
    <p:sldId xmlns:r="http://schemas.openxmlformats.org/officeDocument/2006/relationships" id="262" r:id="Rd662b057754740ba"/>
    <p:sldId xmlns:r="http://schemas.openxmlformats.org/officeDocument/2006/relationships" id="263" r:id="R3a945660bc804a0c"/>
    <p:sldId xmlns:r="http://schemas.openxmlformats.org/officeDocument/2006/relationships" id="264" r:id="R5a8bb262af5440d7"/>
    <p:sldId xmlns:r="http://schemas.openxmlformats.org/officeDocument/2006/relationships" id="265" r:id="R20c7bef097294d48"/>
    <p:sldId xmlns:r="http://schemas.openxmlformats.org/officeDocument/2006/relationships" id="266" r:id="R6ae654afabdb44ba"/>
    <p:sldId xmlns:r="http://schemas.openxmlformats.org/officeDocument/2006/relationships" id="267" r:id="Rc22f68110a9c4fd0"/>
    <p:sldId xmlns:r="http://schemas.openxmlformats.org/officeDocument/2006/relationships" id="268" r:id="Rcc882e6cc1b2470f"/>
    <p:sldId xmlns:r="http://schemas.openxmlformats.org/officeDocument/2006/relationships" id="269" r:id="Ra2f9dd25789e46f9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A93DC6F1-5AE9-41B3-88BD-8CECE14F4323}">
  <a:tblStyle styleId="{A93DC6F1-5AE9-41B3-88BD-8CECE14F43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D876AA-A871-4327-9EF1-3E2DAB4526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2d21537754ed0" /><Relationship Type="http://schemas.openxmlformats.org/officeDocument/2006/relationships/slideMaster" Target="/ppt/slideMasters/slideMaster1.xml" Id="Rd3fb57a3c8064445" /><Relationship Type="http://schemas.openxmlformats.org/officeDocument/2006/relationships/notesMaster" Target="/ppt/notesMasters/notesMaster1.xml" Id="R05eace05ac394f85" /><Relationship Type="http://schemas.openxmlformats.org/officeDocument/2006/relationships/presProps" Target="/ppt/presProps.xml" Id="Rb8adc24030124ae8" /><Relationship Type="http://schemas.openxmlformats.org/officeDocument/2006/relationships/viewProps" Target="/ppt/viewProps.xml" Id="R405cbb67d1304789" /><Relationship Type="http://schemas.openxmlformats.org/officeDocument/2006/relationships/tableStyles" Target="/ppt/tableStyles.xml" Id="R515b8476b8e34205" /><Relationship Type="http://schemas.openxmlformats.org/officeDocument/2006/relationships/slide" Target="/ppt/slides/slide1.xml" Id="R42d5efa104b54cd1" /><Relationship Type="http://schemas.openxmlformats.org/officeDocument/2006/relationships/slide" Target="/ppt/slides/slide2.xml" Id="Rdb06358fb09c4bf1" /><Relationship Type="http://schemas.openxmlformats.org/officeDocument/2006/relationships/slide" Target="/ppt/slides/slide3.xml" Id="Rbc5074909090474a" /><Relationship Type="http://schemas.openxmlformats.org/officeDocument/2006/relationships/slide" Target="/ppt/slides/slide4.xml" Id="R5c0c9f3288c84ebb" /><Relationship Type="http://schemas.openxmlformats.org/officeDocument/2006/relationships/slide" Target="/ppt/slides/slide5.xml" Id="R6b1bd1c23aaa40cf" /><Relationship Type="http://schemas.openxmlformats.org/officeDocument/2006/relationships/slide" Target="/ppt/slides/slide6.xml" Id="R55f6670d33a84d28" /><Relationship Type="http://schemas.openxmlformats.org/officeDocument/2006/relationships/slide" Target="/ppt/slides/slide7.xml" Id="Rd662b057754740ba" /><Relationship Type="http://schemas.openxmlformats.org/officeDocument/2006/relationships/slide" Target="/ppt/slides/slide8.xml" Id="R3a945660bc804a0c" /><Relationship Type="http://schemas.openxmlformats.org/officeDocument/2006/relationships/slide" Target="/ppt/slides/slide9.xml" Id="R5a8bb262af5440d7" /><Relationship Type="http://schemas.openxmlformats.org/officeDocument/2006/relationships/slide" Target="/ppt/slides/slide10.xml" Id="R20c7bef097294d48" /><Relationship Type="http://schemas.openxmlformats.org/officeDocument/2006/relationships/slide" Target="/ppt/slides/slide11.xml" Id="R6ae654afabdb44ba" /><Relationship Type="http://schemas.openxmlformats.org/officeDocument/2006/relationships/slide" Target="/ppt/slides/slide12.xml" Id="Rc22f68110a9c4fd0" /><Relationship Type="http://schemas.openxmlformats.org/officeDocument/2006/relationships/slide" Target="/ppt/slides/slide13.xml" Id="Rcc882e6cc1b2470f" /><Relationship Type="http://schemas.openxmlformats.org/officeDocument/2006/relationships/slide" Target="/ppt/slides/slide14.xml" Id="Ra2f9dd25789e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a071b3caa54b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2c85ad1494da9" /><Relationship Type="http://schemas.openxmlformats.org/officeDocument/2006/relationships/notesMaster" Target="/ppt/notesMasters/notesMaster1.xml" Id="R87ac52c60e7445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26200d11b4822" /><Relationship Type="http://schemas.openxmlformats.org/officeDocument/2006/relationships/notesMaster" Target="/ppt/notesMasters/notesMaster1.xml" Id="Re9c2ecc0d9db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fe2fbaf804858" /><Relationship Type="http://schemas.openxmlformats.org/officeDocument/2006/relationships/notesMaster" Target="/ppt/notesMasters/notesMaster1.xml" Id="Rc2bba1fab0b0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a0793c0014a1d" /><Relationship Type="http://schemas.openxmlformats.org/officeDocument/2006/relationships/notesMaster" Target="/ppt/notesMasters/notesMaster1.xml" Id="R4844cb3760544c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a30e3eea147ee" /><Relationship Type="http://schemas.openxmlformats.org/officeDocument/2006/relationships/notesMaster" Target="/ppt/notesMasters/notesMaster1.xml" Id="R3b9e8b2c9363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e0f03d5cd4bd9" /><Relationship Type="http://schemas.openxmlformats.org/officeDocument/2006/relationships/notesMaster" Target="/ppt/notesMasters/notesMaster1.xml" Id="Rfd99744496f44d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2c71027e9348ec" /><Relationship Type="http://schemas.openxmlformats.org/officeDocument/2006/relationships/notesMaster" Target="/ppt/notesMasters/notesMaster1.xml" Id="Rba20e0393d31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029d162bd44954" /><Relationship Type="http://schemas.openxmlformats.org/officeDocument/2006/relationships/notesMaster" Target="/ppt/notesMasters/notesMaster1.xml" Id="Rdcdc122505624d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0e8e767a9454b" /><Relationship Type="http://schemas.openxmlformats.org/officeDocument/2006/relationships/notesMaster" Target="/ppt/notesMasters/notesMaster1.xml" Id="Rcad02b06797e43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9927bf15994316" /><Relationship Type="http://schemas.openxmlformats.org/officeDocument/2006/relationships/notesMaster" Target="/ppt/notesMasters/notesMaster1.xml" Id="R947aeb5149f449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307cded8104e28" /><Relationship Type="http://schemas.openxmlformats.org/officeDocument/2006/relationships/notesMaster" Target="/ppt/notesMasters/notesMaster1.xml" Id="Rb4d799c188d045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8d1ec6bdf24568" /><Relationship Type="http://schemas.openxmlformats.org/officeDocument/2006/relationships/notesMaster" Target="/ppt/notesMasters/notesMaster1.xml" Id="R2d92e77f9f624e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53f6e4e18d405e" /><Relationship Type="http://schemas.openxmlformats.org/officeDocument/2006/relationships/notesMaster" Target="/ppt/notesMasters/notesMaster1.xml" Id="Raa6b87f0edcd4b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7ba56eca374cd9" /><Relationship Type="http://schemas.openxmlformats.org/officeDocument/2006/relationships/notesMaster" Target="/ppt/notesMasters/notesMaster1.xml" Id="R97e132731741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d46a6f81445d2" /><Relationship Type="http://schemas.openxmlformats.org/officeDocument/2006/relationships/image" Target="/ppt/media/image.jpeg" Id="Rb1742a28139e46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26a334a954db6" /><Relationship Type="http://schemas.openxmlformats.org/officeDocument/2006/relationships/image" Target="/ppt/media/image.png" Id="R4c5d648993bc43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3cbd677a142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8e97b69044920" /><Relationship Type="http://schemas.openxmlformats.org/officeDocument/2006/relationships/image" Target="/ppt/media/image.jpeg" Id="Rc437e7d3355545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284b37f654beb" /></Relationships>
</file>

<file path=ppt/slideLayouts/slideLayout1.xml><?xml version="1.0" encoding="utf-8"?>
<p:sldLayout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213FDEAF-705B-495D-89F6-519EEABA480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4DFCC5ED-4A24-49E6-AC2E-D107CB5CA1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F474CC2-14E1-4384-973A-7ACC21BBA3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BBA97E74-6DD7-425E-A20D-993E4EC41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8F9AD177-73F9-443B-9291-2A6EF791C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2" name="Google Shape;22;p2">
            <a:extLst xmlns:a="http://schemas.openxmlformats.org/drawingml/2006/main">
              <a:ext uri="{FF2B5EF4-FFF2-40B4-BE49-F238E27FC236}">
                <a16:creationId xmlns:a16="http://schemas.microsoft.com/office/drawing/2014/main" id="{81FFAE80-8D2F-46DB-BC9F-946ABF426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742a28139e46c9">
            <a:alphaModFix/>
          </a:blip>
          <a:srcRect xmlns:a="http://schemas.openxmlformats.org/drawingml/2006/main" l="0" t="30317" r="0" b="25238"/>
          <a:stretch xmlns:a="http://schemas.openxmlformats.org/drawingml/2006/main"/>
        </p:blipFill>
        <p:spPr>
          <a:xfrm xmlns:a="http://schemas.openxmlformats.org/drawingml/2006/main" rot="0" flipH="0" flipV="0">
            <a:off x="4294750" y="5349875"/>
            <a:ext cx="1524000" cy="50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" name="Google Shape;23;p2">
            <a:extLst xmlns:a="http://schemas.openxmlformats.org/drawingml/2006/main">
              <a:ext uri="{FF2B5EF4-FFF2-40B4-BE49-F238E27FC236}">
                <a16:creationId xmlns:a16="http://schemas.microsoft.com/office/drawing/2014/main" id="{7AD8AC63-4911-4AC4-8BA1-AE4E8C0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78373" y="5358116"/>
            <a:ext cx="2218877" cy="481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5A5B5E"/>
                </a:solidFill>
                <a:latin typeface="Trebuchet MS"/>
                <a:ea typeface="Trebuchet MS"/>
                <a:cs typeface="Trebuchet MS"/>
              </a:rPr>
              <a:t>School of Software</a:t>
            </a:r>
            <a:endParaRPr/>
          </a:p>
          <a:p xmlns:a="http://schemas.openxmlformats.org/drawingml/2006/main">
            <a:pPr marL="0" marR="0" lvl="0" indent="0" algn="l">
              <a:lnSpc>
                <a:spcPct val="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1DA1C6"/>
                </a:solidFill>
                <a:latin typeface="Trebuchet MS"/>
                <a:ea typeface="Trebuchet MS"/>
                <a:cs typeface="Trebuchet MS"/>
              </a:rPr>
              <a:t>Soongsil University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298B2FDF-4119-470C-8CC3-07F23166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1"/>
            <a:ext cx="12191999" cy="68103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1688F"/>
              </a:gs>
              <a:gs pos="70000">
                <a:srgbClr val="72ABC8"/>
              </a:gs>
              <a:gs pos="85000">
                <a:srgbClr val="B3C6E7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43CA4742-952E-4819-90EE-7D7DDD9BC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5d648993bc4355">
            <a:alphaModFix amt="70000"/>
          </a:blip>
          <a:srcRect xmlns:a="http://schemas.openxmlformats.org/drawingml/2006/main" l="1" t="7297" r="68633" b="82773"/>
          <a:stretch xmlns:a="http://schemas.openxmlformats.org/drawingml/2006/main"/>
        </p:blipFill>
        <p:spPr>
          <a:xfrm xmlns:a="http://schemas.openxmlformats.org/drawingml/2006/main">
            <a:off x="9593626" y="-1"/>
            <a:ext cx="2598373" cy="6810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64D23904-37D2-4BF6-BF08-CD8C60401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48" y="150607"/>
            <a:ext cx="11456504" cy="530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1">
                <a:solidFill>
                  <a:schemeClr val="lt1"/>
                </a:solidFill>
                <a:latin typeface="Trebuchet MS"/>
                <a:ea typeface="Trebuchet MS"/>
                <a:cs typeface="Trebuchet M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4870A1DF-49BA-4E1E-BD31-BE627EA7C0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7748" y="1172818"/>
            <a:ext cx="11456504" cy="5004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>
                <a:latin typeface="Trebuchet MS"/>
                <a:ea typeface="Trebuchet MS"/>
                <a:cs typeface="Trebuchet MS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  <a:defRPr>
                <a:latin typeface="Trebuchet MS"/>
                <a:ea typeface="Trebuchet MS"/>
                <a:cs typeface="Trebuchet MS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rebuchet MS"/>
                <a:ea typeface="Trebuchet MS"/>
                <a:cs typeface="Trebuchet MS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rebuchet MS"/>
                <a:ea typeface="Trebuchet MS"/>
                <a:cs typeface="Trebuchet MS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rebuchet MS"/>
                <a:ea typeface="Trebuchet MS"/>
                <a:cs typeface="Trebuchet MS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DDEA821F-C4D7-4B0B-AEC1-CA5690E4AC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598733"/>
            <a:ext cx="27432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rebuchet MS"/>
                <a:ea typeface="Trebuchet MS"/>
                <a:cs typeface="Trebuchet M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EF2C0DFB-F97D-4D16-B759-869B8D86A5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598733"/>
            <a:ext cx="41148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rebuchet MS"/>
                <a:ea typeface="Trebuchet MS"/>
                <a:cs typeface="Trebuchet M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D653D3B2-C192-4FF1-96FB-7FD9BB439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598733"/>
            <a:ext cx="27432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1pPr>
            <a:lvl2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2pPr>
            <a:lvl3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3pPr>
            <a:lvl4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4pPr>
            <a:lvl5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5pPr>
            <a:lvl6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6pPr>
            <a:lvl7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7pPr>
            <a:lvl8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8pPr>
            <a:lvl9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제목 및 내용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33C1B011-9143-4510-8A17-340B3D889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E4125FF-3804-4061-951B-8B4A6E82FE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BC1924D1-56CF-44C1-89DA-35533B141D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6DB76661-248A-4BCC-9112-EFE6F4C9D4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7C96BF32-8354-410D-B114-669571C32B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0DCE2F9C-3F3F-4B4C-B026-C2F62A333B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sz="4800">
                <a:latin typeface="Trebuchet MS"/>
                <a:ea typeface="Trebuchet MS"/>
                <a:cs typeface="Trebuchet M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A70A1B9-C441-4EED-9828-562820F849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rebuchet MS"/>
                <a:ea typeface="Trebuchet MS"/>
                <a:cs typeface="Trebuchet MS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ECEC9D19-D878-437B-A99A-5729AD20D8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598733"/>
            <a:ext cx="27432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rebuchet MS"/>
                <a:ea typeface="Trebuchet MS"/>
                <a:cs typeface="Trebuchet M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D9D167C5-1107-4B43-8AA1-6EED2C0A02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598733"/>
            <a:ext cx="41148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rebuchet MS"/>
                <a:ea typeface="Trebuchet MS"/>
                <a:cs typeface="Trebuchet M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AEC47BFC-8E8D-4700-B1DE-521BDB8475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598733"/>
            <a:ext cx="2743200" cy="213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1pPr>
            <a:lvl2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2pPr>
            <a:lvl3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3pPr>
            <a:lvl4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4pPr>
            <a:lvl5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5pPr>
            <a:lvl6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6pPr>
            <a:lvl7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7pPr>
            <a:lvl8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8pPr>
            <a:lvl9pPr mar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EEF1A0BA-4AA4-43A4-A592-A1AF1E8BB6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37e7d335554508">
            <a:alphaModFix/>
          </a:blip>
          <a:srcRect xmlns:a="http://schemas.openxmlformats.org/drawingml/2006/main" l="0" t="30317" r="0" b="25238"/>
          <a:stretch xmlns:a="http://schemas.openxmlformats.org/drawingml/2006/main"/>
        </p:blipFill>
        <p:spPr>
          <a:xfrm xmlns:a="http://schemas.openxmlformats.org/drawingml/2006/main" rot="0" flipH="0" flipV="0">
            <a:off x="4294750" y="5349875"/>
            <a:ext cx="1524000" cy="50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92A78493-09A5-49F7-9C68-C77F7BD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78373" y="5358116"/>
            <a:ext cx="2218877" cy="481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5A5B5E"/>
                </a:solidFill>
                <a:latin typeface="Trebuchet MS"/>
                <a:ea typeface="Trebuchet MS"/>
                <a:cs typeface="Trebuchet MS"/>
              </a:rPr>
              <a:t>School of Software</a:t>
            </a:r>
            <a:endParaRPr/>
          </a:p>
          <a:p xmlns:a="http://schemas.openxmlformats.org/drawingml/2006/main">
            <a:pPr marL="0" marR="0" lvl="0" indent="0" algn="l">
              <a:lnSpc>
                <a:spcPct val="8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trike="noStrike" cap="none">
                <a:solidFill>
                  <a:srgbClr val="1DA1C6"/>
                </a:solidFill>
                <a:latin typeface="Trebuchet MS"/>
                <a:ea typeface="Trebuchet MS"/>
                <a:cs typeface="Trebuchet MS"/>
              </a:rPr>
              <a:t>Soongsil University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Personal Project Cov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43520b49a4838" /><Relationship Type="http://schemas.openxmlformats.org/officeDocument/2006/relationships/slideLayout" Target="/ppt/slideLayouts/slideLayout1.xml" Id="Ra1b0603b3e434a9c" /><Relationship Type="http://schemas.openxmlformats.org/officeDocument/2006/relationships/slideLayout" Target="/ppt/slideLayouts/slideLayout2.xml" Id="R2e2fcfe480864207" /><Relationship Type="http://schemas.openxmlformats.org/officeDocument/2006/relationships/slideLayout" Target="/ppt/slideLayouts/slideLayout3.xml" Id="R022f361d2b5a49d7" /><Relationship Type="http://schemas.openxmlformats.org/officeDocument/2006/relationships/slideLayout" Target="/ppt/slideLayouts/slideLayout4.xml" Id="R0e9744fac5d74d14" /><Relationship Type="http://schemas.openxmlformats.org/officeDocument/2006/relationships/slideLayout" Target="/ppt/slideLayouts/slideLayout5.xml" Id="R61de950c6180472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8B68043B-D89B-492A-8927-D4C0BDAFF0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5F7D07C-010E-405A-A598-FA68C6171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3E242058-C578-4D8A-88A4-5949C754BF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5F4C0AAC-8D55-4B6C-9CB0-61684F1180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A0711011-B365-4618-913B-BD8F534FB7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0603b3e434a9c"/>
    <p:sldLayoutId xmlns:r="http://schemas.openxmlformats.org/officeDocument/2006/relationships" id="2147483650" r:id="R2e2fcfe480864207"/>
    <p:sldLayoutId xmlns:r="http://schemas.openxmlformats.org/officeDocument/2006/relationships" id="2147483651" r:id="R022f361d2b5a49d7"/>
    <p:sldLayoutId xmlns:r="http://schemas.openxmlformats.org/officeDocument/2006/relationships" id="2147483652" r:id="R0e9744fac5d74d14"/>
    <p:sldLayoutId xmlns:r="http://schemas.openxmlformats.org/officeDocument/2006/relationships" id="2147483653" r:id="R61de950c6180472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99a73cf5eb4f9f" /><Relationship Type="http://schemas.openxmlformats.org/officeDocument/2006/relationships/notesSlide" Target="/ppt/notesSlides/notesSlide1.xml" Id="R5b31243f38d24b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5a1db5194647cb" /><Relationship Type="http://schemas.openxmlformats.org/officeDocument/2006/relationships/notesSlide" Target="/ppt/notesSlides/notesSlide2.xml" Id="Rc21cae58a6fc45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33623f6be4ec6" /><Relationship Type="http://schemas.openxmlformats.org/officeDocument/2006/relationships/notesSlide" Target="/ppt/notesSlides/notesSlide3.xml" Id="R6c25292c4a2347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a51f3bb2548c6" /><Relationship Type="http://schemas.openxmlformats.org/officeDocument/2006/relationships/image" Target="/ppt/media/image2.png" Id="R2ebae1800e8242b8" /><Relationship Type="http://schemas.openxmlformats.org/officeDocument/2006/relationships/notesSlide" Target="/ppt/notesSlides/notesSlide4.xml" Id="Rdff931c730994f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ff4a56b994b7b" /><Relationship Type="http://schemas.openxmlformats.org/officeDocument/2006/relationships/image" Target="/ppt/media/image3.png" Id="R8d6422d11f0b4957" /><Relationship Type="http://schemas.openxmlformats.org/officeDocument/2006/relationships/notesSlide" Target="/ppt/notesSlides/notesSlide5.xml" Id="Rebb56edce97740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3d1e3ecea40f3" /><Relationship Type="http://schemas.openxmlformats.org/officeDocument/2006/relationships/image" Target="/ppt/media/image4.png" Id="R9e497984320e49d3" /><Relationship Type="http://schemas.openxmlformats.org/officeDocument/2006/relationships/image" Target="/ppt/media/image5.png" Id="R5e674cf94d7542c1" /><Relationship Type="http://schemas.openxmlformats.org/officeDocument/2006/relationships/notesSlide" Target="/ppt/notesSlides/notesSlide6.xml" Id="Rf03456ed0836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11a581eae4101" /><Relationship Type="http://schemas.openxmlformats.org/officeDocument/2006/relationships/image" Target="/ppt/media/image6.png" Id="R2f6e0c32266a4412" /><Relationship Type="http://schemas.openxmlformats.org/officeDocument/2006/relationships/image" Target="/ppt/media/image7.png" Id="Rac1569329f2e4e1c" /><Relationship Type="http://schemas.openxmlformats.org/officeDocument/2006/relationships/notesSlide" Target="/ppt/notesSlides/notesSlide7.xml" Id="R2a0c67f4b69742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a2ce62363480a" /><Relationship Type="http://schemas.openxmlformats.org/officeDocument/2006/relationships/image" Target="/ppt/media/image6.png" Id="R40545990fa164c20" /><Relationship Type="http://schemas.openxmlformats.org/officeDocument/2006/relationships/notesSlide" Target="/ppt/notesSlides/notesSlide8.xml" Id="R169dc6cde86440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442bc80d7442f" /><Relationship Type="http://schemas.openxmlformats.org/officeDocument/2006/relationships/image" Target="/ppt/media/image6.png" Id="R3c9f218560654685" /><Relationship Type="http://schemas.openxmlformats.org/officeDocument/2006/relationships/notesSlide" Target="/ppt/notesSlides/notesSlide9.xml" Id="Re80ca812ea3f48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71900b25044b9" /><Relationship Type="http://schemas.openxmlformats.org/officeDocument/2006/relationships/image" Target="/ppt/media/image8.png" Id="R3c70131df18e4cf9" /><Relationship Type="http://schemas.openxmlformats.org/officeDocument/2006/relationships/notesSlide" Target="/ppt/notesSlides/notesSlide10.xml" Id="Ra80e8b1b2f6845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7b27660144662" /><Relationship Type="http://schemas.openxmlformats.org/officeDocument/2006/relationships/image" Target="/ppt/media/image9.png" Id="Rbffb171c6b0643dc" /><Relationship Type="http://schemas.openxmlformats.org/officeDocument/2006/relationships/image" Target="/ppt/media/image10.png" Id="R654364ae1f634e8c" /><Relationship Type="http://schemas.openxmlformats.org/officeDocument/2006/relationships/image" Target="/ppt/media/image11.png" Id="R6c91ed7cbf34488a" /><Relationship Type="http://schemas.openxmlformats.org/officeDocument/2006/relationships/notesSlide" Target="/ppt/notesSlides/notesSlide11.xml" Id="R077f79d1148846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74396458247a9" /><Relationship Type="http://schemas.openxmlformats.org/officeDocument/2006/relationships/image" Target="/ppt/media/image8.png" Id="Re7aad6b0401d4c84" /><Relationship Type="http://schemas.openxmlformats.org/officeDocument/2006/relationships/image" Target="/ppt/media/image12.png" Id="R4bcbfd1ce67246af" /><Relationship Type="http://schemas.openxmlformats.org/officeDocument/2006/relationships/notesSlide" Target="/ppt/notesSlides/notesSlide12.xml" Id="Rd29c596d8d3d4b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47cc416ba94ae8" /><Relationship Type="http://schemas.openxmlformats.org/officeDocument/2006/relationships/notesSlide" Target="/ppt/notesSlides/notesSlide13.xml" Id="R4038b141bac54d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fda2426b54f8f" /><Relationship Type="http://schemas.openxmlformats.org/officeDocument/2006/relationships/notesSlide" Target="/ppt/notesSlides/notesSlide14.xml" Id="R1e77984370ca41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7">
            <a:extLst xmlns:a="http://schemas.openxmlformats.org/drawingml/2006/main">
              <a:ext uri="{FF2B5EF4-FFF2-40B4-BE49-F238E27FC236}">
                <a16:creationId xmlns:a16="http://schemas.microsoft.com/office/drawing/2014/main" id="{55636257-D530-4553-84A3-FC6D736B0F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13335" y="6648450"/>
            <a:ext cx="3778665" cy="211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</a:t>
            </a:fld>
            <a:endParaRPr/>
          </a:p>
        </p:txBody>
      </p:sp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EC67DF3-0DCF-4B9B-B93B-630094C2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2D3F4E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2D3F4E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 i="0" u="none" strike="noStrike" cap="none">
                <a:solidFill>
                  <a:srgbClr val="2D3F4E"/>
                </a:solidFill>
                <a:latin typeface="NanumGothic"/>
                <a:ea typeface="NanumGothic"/>
                <a:cs typeface="NanumGothic"/>
              </a:rPr>
              <a:t>DQN-Based Warehouse</a:t>
            </a:r>
            <a:endParaRPr sz="1800" b="1" i="0" u="none" strike="noStrike" cap="none">
              <a:solidFill>
                <a:srgbClr val="2D3F4E"/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2D3F4E"/>
                </a:solidFill>
                <a:latin typeface="NanumGothic"/>
                <a:ea typeface="NanumGothic"/>
                <a:cs typeface="NanumGothic"/>
              </a:defRPr>
            </a:pPr>
            <a:r>
              <a:rPr sz="3300" b="1" i="0" u="none" strike="noStrike" cap="none">
                <a:solidFill>
                  <a:srgbClr val="2D3F4E"/>
                </a:solidFill>
                <a:latin typeface="NanumGothic"/>
                <a:ea typeface="NanumGothic"/>
                <a:cs typeface="NanumGothic"/>
              </a:rPr>
              <a:t>Placement Simulation</a:t>
            </a:r>
            <a:endParaRPr sz="1800" b="1" i="0" u="none" strike="noStrike" cap="none">
              <a:solidFill>
                <a:srgbClr val="2D3F4E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5D8CC55F-AA21-4597-BC1A-D9E4394C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latin typeface="NanumGothic"/>
                <a:ea typeface="NanumGothic"/>
                <a:cs typeface="NanumGothic"/>
              </a:defRPr>
            </a:pPr>
            <a:r>
              <a:rPr sz="2025" b="0" i="0" u="none" strike="noStrike" cap="none">
                <a:solidFill>
                  <a:schemeClr val="dk1"/>
                </a:solidFill>
                <a:latin typeface="NanumGothic"/>
                <a:ea typeface="NanumGothic"/>
                <a:cs typeface="NanumGothic"/>
              </a:rPr>
              <a:t>DQN 기반 물류창고 배치 시뮬레이션</a:t>
            </a:r>
          </a:p>
          <a:p xmlns:a="http://schemas.openxmlformats.org/drawingml/2006/main">
            <a:pPr marL="0" marR="0" lvl="0" indent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latin typeface="NanumGothic"/>
                <a:ea typeface="NanumGothic"/>
                <a:cs typeface="NanumGothic"/>
              </a:defRPr>
            </a:pPr>
            <a:r>
              <a:rPr sz="2025" b="0" i="0" u="none" strike="noStrike" cap="none">
                <a:solidFill>
                  <a:schemeClr val="dk1"/>
                </a:solidFill>
                <a:latin typeface="NanumGothic"/>
                <a:ea typeface="NanumGothic"/>
                <a:cs typeface="NanumGothic"/>
              </a:rPr>
              <a:t>개인 프로젝트 / 이승열</a:t>
            </a:r>
            <a:endParaRPr sz="18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461326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8">
            <a:extLst xmlns:a="http://schemas.openxmlformats.org/drawingml/2006/main">
              <a:ext uri="{FF2B5EF4-FFF2-40B4-BE49-F238E27FC236}">
                <a16:creationId xmlns:a16="http://schemas.microsoft.com/office/drawing/2014/main" id="{B5110F53-6BA7-40B9-BAB5-1FA4A0AFB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48" y="150607"/>
            <a:ext cx="11456504" cy="530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</a:pPr>
            <a:r>
              <a:t>Index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FAED42-B345-43EB-92C0-F70DD3EE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10763250" cy="490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Project Background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DQN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Warehouse Environment &amp; Reward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Training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Learning Issues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122772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9AA2C60-BB5C-FE3D-7340-280E5E9C3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System Selection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C09B2-CDE9-4404-916D-CF5D420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33500"/>
            <a:ext cx="103822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물품 특성에 따른 창고 배치 문제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물품 종류에 따라 일반 구역과 반품 구역을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층별 무게 조건과 수량·단가에 따른 위치 규칙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배치 후보를 행동으로 정의하고 보상 함수를 설계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DQN 에이전트의 학습 과정과 배치 결과를 시각화</a:t>
            </a:r>
          </a:p>
        </p:txBody>
      </p:sp>
    </p:spTree>
    <p:extLst>
      <p:ext uri="{BB962C8B-B14F-4D97-AF65-F5344CB8AC3E}">
        <p14:creationId xmlns:p14="http://schemas.microsoft.com/office/powerpoint/2010/main" val="26545532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A90F0E7-528A-332A-223A-F5AF7F3F3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What</a:t>
            </a:r>
            <a:r>
              <a:t> </a:t>
            </a:r>
            <a:r>
              <a:t>is</a:t>
            </a:r>
            <a:r>
              <a:t> </a:t>
            </a:r>
            <a:r>
              <a:t>DQN</a:t>
            </a:r>
            <a:r>
              <a:t> </a:t>
            </a:r>
            <a:r>
              <a:t>?</a:t>
            </a:r>
          </a:p>
        </p:txBody>
      </p:sp>
      <p:pic>
        <p:nvPicPr>
          <p:cNvPr id="33" name="그림 32">
            <a:extLst xmlns:a="http://schemas.openxmlformats.org/drawingml/2006/main">
              <a:ext uri="{FF2B5EF4-FFF2-40B4-BE49-F238E27FC236}">
                <a16:creationId xmlns:a16="http://schemas.microsoft.com/office/drawing/2014/main" id="{86B443D5-C1CD-48D1-9400-A330BA0A4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ae1800e82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376098"/>
            <a:ext cx="3806687" cy="459758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77C2A1-34A8-47A8-A299-75FB99B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638175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DQN (Deep Q-Network)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창고 상태를 입력으로 받아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배치 후보별 Q값을 예측하는 신경망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Q값: 행동 선택 후 기대되는 할인 누적 보상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epsilon-greedy로 탐험과 행동 선택 수행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저장한 경험을 무작위로 추출해 학습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타깃 네트워크로 TD 목표값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학습 보상과 배치 화면으로 동작 확인</a:t>
            </a:r>
          </a:p>
        </p:txBody>
      </p:sp>
    </p:spTree>
    <p:extLst>
      <p:ext uri="{BB962C8B-B14F-4D97-AF65-F5344CB8AC3E}">
        <p14:creationId xmlns:p14="http://schemas.microsoft.com/office/powerpoint/2010/main" val="2239937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C4AC720-EE5B-4EEE-ABAC-62DD25AD6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</a:t>
            </a:r>
            <a:r>
              <a:t> </a:t>
            </a:r>
            <a:r>
              <a:t>P</a:t>
            </a:r>
            <a:r>
              <a:t>rocess</a:t>
            </a:r>
            <a:endParaRPr/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6EF58156-BE3D-4C63-B175-75079625C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422d11f0b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244420"/>
            <a:ext cx="8080513" cy="49087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118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0B50C49D-0E32-4255-A952-350193321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97984320e49d3"/>
          <a:srcRect xmlns:a="http://schemas.openxmlformats.org/drawingml/2006/main" l="0" t="0" r="0" b="39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50349" y="2173014"/>
            <a:ext cx="2455070" cy="4003950"/>
          </a:xfrm>
          <a:prstGeom xmlns:a="http://schemas.openxmlformats.org/drawingml/2006/main" prst="rect">
            <a:avLst/>
          </a:prstGeom>
        </p:spPr>
      </p:pic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96CCD5B0-84DA-43AE-AF50-2357FBBFA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74cf94d7542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574" y="2512390"/>
            <a:ext cx="5264426" cy="3501181"/>
          </a:xfrm>
          <a:prstGeom xmlns:a="http://schemas.openxmlformats.org/drawingml/2006/main" prst="rect">
            <a:avLst/>
          </a:prstGeom>
        </p:spPr>
      </p:pic>
      <p:sp>
        <p:nvSpPr>
          <p:cNvPr id="10" name="오른쪽 화살표[R] 9">
            <a:extLst xmlns:a="http://schemas.openxmlformats.org/drawingml/2006/main">
              <a:ext uri="{FF2B5EF4-FFF2-40B4-BE49-F238E27FC236}">
                <a16:creationId xmlns:a16="http://schemas.microsoft.com/office/drawing/2014/main" id="{31875D21-316F-926B-8858-72746B5B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822" y="3969580"/>
            <a:ext cx="778705" cy="33737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제목 1">
            <a:extLst xmlns:a="http://schemas.openxmlformats.org/drawingml/2006/main">
              <a:ext uri="{FF2B5EF4-FFF2-40B4-BE49-F238E27FC236}">
                <a16:creationId xmlns:a16="http://schemas.microsoft.com/office/drawing/2014/main" id="{D44EE963-67F5-316A-CCCA-0C4C378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8" y="142290"/>
            <a:ext cx="11456504" cy="530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defPPr algn="l"/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>System Implementation</a:t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26190-A68A-4BCF-A80C-40EA8B06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4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Online Retail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272AE-8DD4-4FA0-AF2B-C68A245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원본 데이터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Quantity / UnitPrice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96B34-22E9-4FC7-BFF0-49694F8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252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시뮬레이션용 속성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Type / Weight 추가</a:t>
            </a:r>
          </a:p>
        </p:txBody>
      </p:sp>
    </p:spTree>
    <p:extLst>
      <p:ext uri="{BB962C8B-B14F-4D97-AF65-F5344CB8AC3E}">
        <p14:creationId xmlns:p14="http://schemas.microsoft.com/office/powerpoint/2010/main" val="8864939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A56A19E-0BE0-F949-B578-2AC913F70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Clr>
                <a:schemeClr val="dk1"/>
              </a:buClr>
              <a:buSzPts val="2800"/>
              <a:buNone/>
            </a:pPr>
            <a:r>
              <a:t>System</a:t>
            </a:r>
            <a:r>
              <a:t> </a:t>
            </a:r>
            <a:r>
              <a:t>Block Diagram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AC9EF9D0-4057-44E6-9F27-4721CB857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e0c32266a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9409" y="2894614"/>
            <a:ext cx="4837044" cy="3152374"/>
          </a:xfrm>
          <a:prstGeom xmlns:a="http://schemas.openxmlformats.org/drawingml/2006/main" prst="rect">
            <a:avLst/>
          </a:prstGeom>
        </p:spPr>
      </p:pic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A59241E-593E-1A68-D9E8-1040DF7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539" y="4552124"/>
            <a:ext cx="914400" cy="126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08C92BA9-554E-41BF-AB95-C51C626BB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569329f2e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580" y="2980985"/>
            <a:ext cx="2242377" cy="314227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135C0-328F-4DC4-8B09-51346699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2층 창고 환경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통로와 적재 슬롯을 좌표 배열로 구분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각 층의 배치 상태와 물품 속성을 관리</a:t>
            </a:r>
          </a:p>
        </p:txBody>
      </p:sp>
    </p:spTree>
    <p:extLst>
      <p:ext uri="{BB962C8B-B14F-4D97-AF65-F5344CB8AC3E}">
        <p14:creationId xmlns:p14="http://schemas.microsoft.com/office/powerpoint/2010/main" val="8003081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38C8083-F92E-E5DC-8A18-B911F7230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System Implementation</a:t>
            </a:r>
            <a:endParaRPr/>
          </a:p>
        </p:txBody>
      </p:sp>
      <p:pic>
        <p:nvPicPr>
          <p:cNvPr id="32" name="그림 31">
            <a:extLst xmlns:a="http://schemas.openxmlformats.org/drawingml/2006/main">
              <a:ext uri="{FF2B5EF4-FFF2-40B4-BE49-F238E27FC236}">
                <a16:creationId xmlns:a16="http://schemas.microsoft.com/office/drawing/2014/main" id="{EE6C1B89-C648-42C8-AD4F-42B463A69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45990fa16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142183" y="2203985"/>
            <a:ext cx="4546145" cy="2996894"/>
          </a:xfrm>
          <a:prstGeom xmlns:a="http://schemas.openxmlformats.org/drawingml/2006/main" prst="rect">
            <a:avLst/>
          </a:prstGeom>
        </p:spPr>
      </p:pic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DC69A57-D87E-8263-A9FB-6570E0D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2183" y="3905189"/>
            <a:ext cx="848939" cy="100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06953BB-76F3-D532-879B-7AF6BB4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15255" y="3904445"/>
            <a:ext cx="848939" cy="100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F255AE-0175-FF7C-BD35-358D9B0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6126" y="5187290"/>
            <a:ext cx="751142" cy="315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>
                    <a:lumMod val="75000"/>
                  </a:schemeClr>
                </a:solidFill>
                <a:latin typeface="Trebuchet MS"/>
                <a:ea typeface="Trebuchet MS"/>
                <a:cs typeface="Trebuchet MS"/>
              </a:rPr>
              <a:t>Floor 1</a:t>
            </a:r>
            <a:endParaRPr>
              <a:solidFill>
                <a:schemeClr val="accent1">
                  <a:lumMod val="75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B942D4-6ABD-7C2F-4722-8AA6545C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7324" y="5200880"/>
            <a:ext cx="754392" cy="315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Floor 2</a:t>
            </a:r>
            <a:endParaRPr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</p:txBody>
      </p:sp>
      <p:graphicFrame>
        <p:nvGraphicFramePr>
          <p:cNvPr id="9" name="표 8">
            <a:extLst xmlns:a="http://schemas.openxmlformats.org/drawingml/2006/main">
              <a:ext uri="{FF2B5EF4-FFF2-40B4-BE49-F238E27FC236}">
                <a16:creationId xmlns:a16="http://schemas.microsoft.com/office/drawing/2014/main" id="{9EA83120-F2A2-4F64-8B9C-78009D4CA458}"/>
              </a:ext>
            </a:extLst>
          </p:cNvPr>
          <p:cNvGraphicFramePr/>
          <p:nvPr/>
        </p:nvGraphicFramePr>
        <p:xfrm>
          <a:off xmlns:a="http://schemas.openxmlformats.org/drawingml/2006/main" x="2438400" y="3202451"/>
          <a:ext xmlns:a="http://schemas.openxmlformats.org/drawingml/2006/main" cx="3657600" cy="944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59374"/>
                <a:gridCol w="1177488"/>
                <a:gridCol w="1120738"/>
              </a:tblGrid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latin typeface="Trebuchet MS"/>
                          <a:ea typeface="Trebuchet MS"/>
                          <a:cs typeface="Trebuchet MS"/>
                        </a:rPr>
                        <a:t>Item</a:t>
                      </a:r>
                      <a:r>
                        <a:rPr sz="1600">
                          <a:latin typeface="Trebuchet MS"/>
                          <a:ea typeface="Trebuchet MS"/>
                          <a:cs typeface="Trebuchet MS"/>
                        </a:rPr>
                        <a:t> </a:t>
                      </a:r>
                      <a:r>
                        <a:rPr sz="1600">
                          <a:latin typeface="Trebuchet MS"/>
                          <a:ea typeface="Trebuchet MS"/>
                          <a:cs typeface="Trebuchet MS"/>
                        </a:rPr>
                        <a:t>Type</a:t>
                      </a:r>
                      <a:endParaRPr sz="16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Product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Return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Reward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+ 10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+ 5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Penalty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- 5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- 10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2" name="표 11">
            <a:extLst xmlns:a="http://schemas.openxmlformats.org/drawingml/2006/main">
              <a:ext uri="{FF2B5EF4-FFF2-40B4-BE49-F238E27FC236}">
                <a16:creationId xmlns:a16="http://schemas.microsoft.com/office/drawing/2014/main" id="{6EC98634-5759-4C50-8957-0F8887AF4E21}"/>
              </a:ext>
            </a:extLst>
          </p:cNvPr>
          <p:cNvGraphicFramePr/>
          <p:nvPr/>
        </p:nvGraphicFramePr>
        <p:xfrm>
          <a:off xmlns:a="http://schemas.openxmlformats.org/drawingml/2006/main" x="2438400" y="5502910"/>
          <a:ext xmlns:a="http://schemas.openxmlformats.org/drawingml/2006/main" cx="3657600" cy="94637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088943"/>
                <a:gridCol w="1303586"/>
                <a:gridCol w="1265071"/>
              </a:tblGrid>
              <a:tr h="33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>
                          <a:latin typeface="Trebuchet MS"/>
                          <a:ea typeface="Trebuchet MS"/>
                          <a:cs typeface="Trebuchet MS"/>
                        </a:rPr>
                        <a:t>Weight</a:t>
                      </a:r>
                      <a:endParaRPr sz="16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Floor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/>
                        <a:t>Floor 2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0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Reward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+ 1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+ 1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052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Penalty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- 1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rebuchet MS"/>
                          <a:ea typeface="Trebuchet MS"/>
                          <a:cs typeface="Trebuchet MS"/>
                        </a:rPr>
                        <a:t>- 1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7E131AB-65A1-CE5A-AAAA-A633192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34" y="5033401"/>
            <a:ext cx="117852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Return Zone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4441F15-90FF-425D-6094-AF850AE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270" y="5033401"/>
            <a:ext cx="117852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Return Zone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BF6E9-C45C-4F20-90A6-BE2F83A5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배치 규칙과 보상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026B4E-20F0-482C-9D43-AA1F766F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빈 슬롯에 배치: 기본 보상 0.5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405F9-C276-4B82-9C35-85A7EDA7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1. 물품 종류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B13E14-6396-42C2-AA63-4159CAF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일반 물품 / 반품 구역 구분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796649-7C65-4852-A998-D955E72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2. 무게 조건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7EB45C-72F4-4FAD-9D2A-59E61D1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19625"/>
            <a:ext cx="566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1층: 50~200kg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2층: 0~50kg</a:t>
            </a:r>
          </a:p>
        </p:txBody>
      </p:sp>
    </p:spTree>
    <p:extLst>
      <p:ext uri="{BB962C8B-B14F-4D97-AF65-F5344CB8AC3E}">
        <p14:creationId xmlns:p14="http://schemas.microsoft.com/office/powerpoint/2010/main" val="28937815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A009250-8115-051A-EBAF-EE63C2E0B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System Implementation</a:t>
            </a:r>
            <a:endParaRPr/>
          </a:p>
        </p:txBody>
      </p:sp>
      <p:pic>
        <p:nvPicPr>
          <p:cNvPr id="32" name="그림 31">
            <a:extLst xmlns:a="http://schemas.openxmlformats.org/drawingml/2006/main">
              <a:ext uri="{FF2B5EF4-FFF2-40B4-BE49-F238E27FC236}">
                <a16:creationId xmlns:a16="http://schemas.microsoft.com/office/drawing/2014/main" id="{0BC5B2C5-CEEB-4C42-A3B6-641FDCD25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f21856065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216325" y="2203985"/>
            <a:ext cx="4546145" cy="299689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48A159-2F56-6F90-98FA-20F837D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0268" y="5187290"/>
            <a:ext cx="751142" cy="315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>
                    <a:lumMod val="75000"/>
                  </a:schemeClr>
                </a:solidFill>
                <a:latin typeface="Trebuchet MS"/>
                <a:ea typeface="Trebuchet MS"/>
                <a:cs typeface="Trebuchet MS"/>
              </a:rPr>
              <a:t>Floor 1</a:t>
            </a:r>
            <a:endParaRPr>
              <a:solidFill>
                <a:schemeClr val="accent1">
                  <a:lumMod val="75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EF8F262-2B8A-893A-3202-AC0D7D2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1466" y="5200880"/>
            <a:ext cx="754392" cy="315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Floor 2</a:t>
            </a:r>
            <a:endParaRPr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087382-8F5E-26A0-5986-DFC82C0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39" y="4002680"/>
            <a:ext cx="378941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6</a:t>
            </a:r>
          </a:p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7</a:t>
            </a:r>
          </a:p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8</a:t>
            </a:r>
            <a:endParaRPr sz="1500"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26A844-A62E-4F47-B231-1641844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154" y="4002680"/>
            <a:ext cx="378941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6</a:t>
            </a:r>
          </a:p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7</a:t>
            </a:r>
          </a:p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8</a:t>
            </a:r>
            <a:endParaRPr sz="1500"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7FDD3B-50FE-560C-967E-8F60E14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358" y="2428395"/>
            <a:ext cx="378941" cy="1246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0</a:t>
            </a:r>
            <a:b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</a:br>
            <a:endParaRPr sz="1500"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2</a:t>
            </a:r>
          </a:p>
          <a:p xmlns:a="http://schemas.openxmlformats.org/drawingml/2006/main">
            <a:endParaRPr sz="1500"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r>
              <a:rPr sz="150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/>
                <a:ea typeface="Trebuchet MS"/>
                <a:cs typeface="Trebuchet MS"/>
              </a:rPr>
              <a:t>4</a:t>
            </a:r>
            <a:endParaRPr sz="1500">
              <a:solidFill>
                <a:schemeClr val="accent1">
                  <a:lumMod val="60000"/>
                  <a:lumOff val="40000"/>
                </a:schemeClr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601A00-538D-398F-61A8-15F790E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483" y="2428396"/>
            <a:ext cx="378941" cy="12464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0</a:t>
            </a:r>
            <a:b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</a:br>
            <a:endParaRPr sz="1500"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2</a:t>
            </a:r>
          </a:p>
          <a:p xmlns:a="http://schemas.openxmlformats.org/drawingml/2006/main">
            <a:endParaRPr sz="1500"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r>
              <a:rPr sz="1500">
                <a:solidFill>
                  <a:srgbClr val="FFC000"/>
                </a:solidFill>
                <a:latin typeface="Trebuchet MS"/>
                <a:ea typeface="Trebuchet MS"/>
                <a:cs typeface="Trebuchet MS"/>
              </a:rPr>
              <a:t>4</a:t>
            </a:r>
            <a:endParaRPr sz="1500">
              <a:solidFill>
                <a:srgbClr val="FFC000"/>
              </a:solidFill>
              <a:latin typeface="Trebuchet MS"/>
              <a:ea typeface="Trebuchet MS"/>
              <a:cs typeface="Trebuchet MS"/>
            </a:endParaRPr>
          </a:p>
        </p:txBody>
      </p:sp>
      <p:graphicFrame>
        <p:nvGraphicFramePr>
          <p:cNvPr id="18" name="표 17">
            <a:extLst xmlns:a="http://schemas.openxmlformats.org/drawingml/2006/main">
              <a:ext uri="{FF2B5EF4-FFF2-40B4-BE49-F238E27FC236}">
                <a16:creationId xmlns:a16="http://schemas.microsoft.com/office/drawing/2014/main" id="{B1401FE0-C8B7-49C6-852D-1127145713D4}"/>
              </a:ext>
            </a:extLst>
          </p:cNvPr>
          <p:cNvGraphicFramePr/>
          <p:nvPr/>
        </p:nvGraphicFramePr>
        <p:xfrm>
          <a:off xmlns:a="http://schemas.openxmlformats.org/drawingml/2006/main" x="1086782" y="5322953"/>
          <a:ext xmlns:a="http://schemas.openxmlformats.org/drawingml/2006/main" cx="5417475" cy="944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41200"/>
                <a:gridCol w="1334985"/>
                <a:gridCol w="1270645"/>
                <a:gridCol w="1270645"/>
              </a:tblGrid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Row</a:t>
                      </a:r>
                      <a:endParaRPr sz="16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0번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2번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4번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Reward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+ 0.7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+0.5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Penalty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0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9" name="표 18">
            <a:extLst xmlns:a="http://schemas.openxmlformats.org/drawingml/2006/main">
              <a:ext uri="{FF2B5EF4-FFF2-40B4-BE49-F238E27FC236}">
                <a16:creationId xmlns:a16="http://schemas.microsoft.com/office/drawing/2014/main" id="{F59589EF-F2E2-4A29-B9EE-C91309544094}"/>
              </a:ext>
            </a:extLst>
          </p:cNvPr>
          <p:cNvGraphicFramePr/>
          <p:nvPr/>
        </p:nvGraphicFramePr>
        <p:xfrm>
          <a:off xmlns:a="http://schemas.openxmlformats.org/drawingml/2006/main" x="1086783" y="2946448"/>
          <a:ext xmlns:a="http://schemas.openxmlformats.org/drawingml/2006/main" cx="5417475" cy="944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41200"/>
                <a:gridCol w="1334985"/>
                <a:gridCol w="1270645"/>
                <a:gridCol w="1270645"/>
              </a:tblGrid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Row</a:t>
                      </a:r>
                      <a:endParaRPr sz="16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8번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7번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6번 행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Reward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+ 1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+ 0.7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+0.5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3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Penalty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NanumGothic"/>
                          <a:ea typeface="NanumGothic"/>
                          <a:cs typeface="NanumGothic"/>
                        </a:rPr>
                        <a:t>0</a:t>
                      </a: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96399-C143-4B64-946D-74E5FAB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배치 규칙과 보상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2E983-D0FC-459A-8F57-715729F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3. 반품 수량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A9246-69B2-42D7-B243-7F1F7DD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552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8번 행: 30 이상 / 7번 행: 15 이상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6번 행: 1 이상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94A01-1870-451C-8D7D-517BA19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4. 단가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F2392D-F5C9-4020-992D-F2870D91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5524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0번 행: 4 이상 / 2번 행: 2 이상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4번 행: 2 미만</a:t>
            </a:r>
          </a:p>
        </p:txBody>
      </p:sp>
    </p:spTree>
    <p:extLst>
      <p:ext uri="{BB962C8B-B14F-4D97-AF65-F5344CB8AC3E}">
        <p14:creationId xmlns:p14="http://schemas.microsoft.com/office/powerpoint/2010/main" val="21295551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A9184-5FEB-7A28-A4FA-D68BB366C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>Simulation Result</a:t>
            </a:r>
            <a:endParaRPr/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17845AC0-F2F1-4C96-A878-8953E8C67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0131df18e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5878" y="2701924"/>
            <a:ext cx="5040243" cy="378018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87963-39F2-47F2-B97A-D382A33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23975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초기 보상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여러 조건을 동시에 적용했을 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에피소드별 보상의 변동이 큰 학습 결과</a:t>
            </a:r>
          </a:p>
        </p:txBody>
      </p:sp>
    </p:spTree>
    <p:extLst>
      <p:ext uri="{BB962C8B-B14F-4D97-AF65-F5344CB8AC3E}">
        <p14:creationId xmlns:p14="http://schemas.microsoft.com/office/powerpoint/2010/main" val="23903242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DE7461F-7A05-E7DF-BB45-4070226FE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>System Implementation</a:t>
            </a:r>
            <a:endParaRPr/>
          </a:p>
        </p:txBody>
      </p:sp>
      <p:pic>
        <p:nvPicPr>
          <p:cNvPr id="32" name="그림 31">
            <a:extLst xmlns:a="http://schemas.openxmlformats.org/drawingml/2006/main">
              <a:ext uri="{FF2B5EF4-FFF2-40B4-BE49-F238E27FC236}">
                <a16:creationId xmlns:a16="http://schemas.microsoft.com/office/drawing/2014/main" id="{DC5951CD-BB67-4D93-9C4B-D2574CC99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b171c6b06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196" y="3548922"/>
            <a:ext cx="3958536" cy="2302126"/>
          </a:xfrm>
          <a:prstGeom xmlns:a="http://schemas.openxmlformats.org/drawingml/2006/main" prst="rect">
            <a:avLst/>
          </a:prstGeom>
        </p:spPr>
      </p:pic>
      <p:pic>
        <p:nvPicPr>
          <p:cNvPr id="33" name="그림 32">
            <a:extLst xmlns:a="http://schemas.openxmlformats.org/drawingml/2006/main">
              <a:ext uri="{FF2B5EF4-FFF2-40B4-BE49-F238E27FC236}">
                <a16:creationId xmlns:a16="http://schemas.microsoft.com/office/drawing/2014/main" id="{63604A80-B5DE-4944-96E0-3C7F2B9D9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364ae1f634e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6732" y="3548922"/>
            <a:ext cx="3958536" cy="2697410"/>
          </a:xfrm>
          <a:prstGeom xmlns:a="http://schemas.openxmlformats.org/drawingml/2006/main" prst="rect">
            <a:avLst/>
          </a:prstGeom>
        </p:spPr>
      </p:pic>
      <p:pic>
        <p:nvPicPr>
          <p:cNvPr id="34" name="그림 33">
            <a:extLst xmlns:a="http://schemas.openxmlformats.org/drawingml/2006/main">
              <a:ext uri="{FF2B5EF4-FFF2-40B4-BE49-F238E27FC236}">
                <a16:creationId xmlns:a16="http://schemas.microsoft.com/office/drawing/2014/main" id="{068DF862-E83B-4CB2-8302-11E34D96D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1ed7cbf34488a"/>
          <a:srcRect xmlns:a="http://schemas.openxmlformats.org/drawingml/2006/main" l="1558" t="4478" r="4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5268" y="3548922"/>
            <a:ext cx="3958535" cy="2226430"/>
          </a:xfrm>
          <a:prstGeom xmlns:a="http://schemas.openxmlformats.org/drawingml/2006/main" prst="rect">
            <a:avLst/>
          </a:prstGeom>
        </p:spPr>
      </p:pic>
      <p:cxnSp>
        <p:nvCxnSpPr>
          <p:cNvPr id="36" name="직선 화살표 연결선 35">
            <a:extLst xmlns:a="http://schemas.openxmlformats.org/drawingml/2006/main">
              <a:ext uri="{FF2B5EF4-FFF2-40B4-BE49-F238E27FC236}">
                <a16:creationId xmlns:a16="http://schemas.microsoft.com/office/drawing/2014/main" id="{21FD55DD-1C3C-4EEE-806A-3BB5BFCF13AA}"/>
              </a:ext>
            </a:extLst>
          </p:cNvPr>
          <p:cNvCxnSpPr/>
          <p:nvPr/>
        </p:nvCxnSpPr>
        <p:spPr>
          <a:xfrm xmlns:a="http://schemas.openxmlformats.org/drawingml/2006/main">
            <a:off x="801128" y="3212760"/>
            <a:ext cx="10245811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B2994E-B907-4F8C-A170-C926A8E3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0906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단계별 보상 설계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물품 종류, 무게, 반품 수량, 단가 조건을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75개 에피소드마다 순차적으로 추가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EA43A7-F96C-40B9-B26A-4D4378D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조건 적용 순서</a:t>
            </a:r>
          </a:p>
        </p:txBody>
      </p:sp>
    </p:spTree>
    <p:extLst>
      <p:ext uri="{BB962C8B-B14F-4D97-AF65-F5344CB8AC3E}">
        <p14:creationId xmlns:p14="http://schemas.microsoft.com/office/powerpoint/2010/main" val="14919983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5A02EBF-B0D8-4EAE-BB3A-5C2C2E7C9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Clr>
                <a:schemeClr val="dk1"/>
              </a:buClr>
              <a:buSzPts val="2800"/>
              <a:buNone/>
            </a:pPr>
            <a:r>
              <a:t>Simulation Result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75AF193A-F47B-4577-BD95-0AC9B3AF5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ad6b0401d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429" y="2914308"/>
            <a:ext cx="4350208" cy="3262656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1867AD4-E8B6-5D60-72FE-32EA884F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980" y="2422527"/>
            <a:ext cx="804862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575">
                <a:solidFill>
                  <a:srgbClr val="2F5597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defRPr sz="1575">
                <a:solidFill>
                  <a:srgbClr val="2F5597"/>
                </a:solidFill>
                <a:latin typeface="NanumGothic"/>
                <a:ea typeface="NanumGothic"/>
                <a:cs typeface="NanumGothic"/>
              </a:defRPr>
            </a:pPr>
            <a:r>
              <a:rPr sz="1575">
                <a:solidFill>
                  <a:srgbClr val="2F5597"/>
                </a:solidFill>
                <a:latin typeface="NanumGothic"/>
                <a:ea typeface="NanumGothic"/>
                <a:cs typeface="NanumGothic"/>
              </a:rPr>
              <a:t>초기 설정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64F1A3-C283-91D1-E57A-91A1D72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529" y="2423130"/>
            <a:ext cx="992187" cy="240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575">
                <a:solidFill>
                  <a:srgbClr val="548235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defRPr sz="1575">
                <a:solidFill>
                  <a:srgbClr val="548235"/>
                </a:solidFill>
                <a:latin typeface="NanumGothic"/>
                <a:ea typeface="NanumGothic"/>
                <a:cs typeface="NanumGothic"/>
              </a:defRPr>
            </a:pPr>
            <a:r>
              <a:rPr sz="1575">
                <a:solidFill>
                  <a:srgbClr val="548235"/>
                </a:solidFill>
                <a:latin typeface="NanumGothic"/>
                <a:ea typeface="NanumGothic"/>
                <a:cs typeface="NanumGothic"/>
              </a:rPr>
              <a:t>단계별 보상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F2D5C8E2-ABB2-48A1-97E5-80D77516C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bfd1ce67246af"/>
          <a:srcRect xmlns:a="http://schemas.openxmlformats.org/drawingml/2006/main" l="6231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159969" y="3051690"/>
            <a:ext cx="3913602" cy="3112024"/>
          </a:xfrm>
          <a:prstGeom xmlns:a="http://schemas.openxmlformats.org/drawingml/2006/main" prst="rect">
            <a:avLst/>
          </a:prstGeom>
        </p:spPr>
      </p:pic>
      <p:cxnSp>
        <p:nvCxnSpPr>
          <p:cNvPr id="8" name="직선 화살표 연결선 7">
            <a:extLst xmlns:a="http://schemas.openxmlformats.org/drawingml/2006/main">
              <a:ext uri="{FF2B5EF4-FFF2-40B4-BE49-F238E27FC236}">
                <a16:creationId xmlns:a16="http://schemas.microsoft.com/office/drawing/2014/main" id="{E53518B1-CE0D-45F3-8DBD-7D16E24D34C4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8449229" y="3446046"/>
            <a:ext cx="0" cy="592321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" name="직선 화살표 연결선 8">
            <a:extLst xmlns:a="http://schemas.openxmlformats.org/drawingml/2006/main">
              <a:ext uri="{FF2B5EF4-FFF2-40B4-BE49-F238E27FC236}">
                <a16:creationId xmlns:a16="http://schemas.microsoft.com/office/drawing/2014/main" id="{CCB36EEC-51E0-4311-BF07-87CE83176A32}"/>
              </a:ext>
            </a:extLst>
          </p:cNvPr>
          <p:cNvCxnSpPr/>
          <p:nvPr/>
        </p:nvCxnSpPr>
        <p:spPr>
          <a:xfrm xmlns:a="http://schemas.openxmlformats.org/drawingml/2006/main" rot="0" flipH="0" flipV="1">
            <a:off x="10045190" y="5127150"/>
            <a:ext cx="0" cy="584527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12" name="직선 화살표 연결선 11">
            <a:extLst xmlns:a="http://schemas.openxmlformats.org/drawingml/2006/main">
              <a:ext uri="{FF2B5EF4-FFF2-40B4-BE49-F238E27FC236}">
                <a16:creationId xmlns:a16="http://schemas.microsoft.com/office/drawing/2014/main" id="{A55803A0-EFF4-4C1A-B96E-316D85DFF347}"/>
              </a:ext>
            </a:extLst>
          </p:cNvPr>
          <p:cNvCxnSpPr/>
          <p:nvPr/>
        </p:nvCxnSpPr>
        <p:spPr>
          <a:xfrm xmlns:a="http://schemas.openxmlformats.org/drawingml/2006/main" rot="0" flipH="0" flipV="1">
            <a:off x="9259517" y="5592436"/>
            <a:ext cx="0" cy="584527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13" name="텍스트 상자 2">
            <a:extLst xmlns:a="http://schemas.openxmlformats.org/drawingml/2006/main">
              <a:ext uri="{FF2B5EF4-FFF2-40B4-BE49-F238E27FC236}">
                <a16:creationId xmlns:a16="http://schemas.microsoft.com/office/drawing/2014/main" id="{64C13278-19B2-7A26-73F9-BCCCC8A7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6080" y="5389800"/>
            <a:ext cx="764848" cy="44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sz="1000" b="1"/>
              <a:t>Step 1</a:t>
            </a:r>
            <a:endParaRPr sz="1000" kern="100"/>
          </a:p>
        </p:txBody>
      </p:sp>
      <p:sp>
        <p:nvSpPr>
          <p:cNvPr id="14" name="텍스트 상자 2">
            <a:extLst xmlns:a="http://schemas.openxmlformats.org/drawingml/2006/main">
              <a:ext uri="{FF2B5EF4-FFF2-40B4-BE49-F238E27FC236}">
                <a16:creationId xmlns:a16="http://schemas.microsoft.com/office/drawing/2014/main" id="{452D5C37-6930-0568-86E9-0F1C2850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53356" y="5389800"/>
            <a:ext cx="764848" cy="44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sz="1000" b="1"/>
              <a:t>Step 2</a:t>
            </a:r>
            <a:endParaRPr sz="1000" kern="100"/>
          </a:p>
        </p:txBody>
      </p:sp>
      <p:sp>
        <p:nvSpPr>
          <p:cNvPr id="16" name="텍스트 상자 2">
            <a:extLst xmlns:a="http://schemas.openxmlformats.org/drawingml/2006/main">
              <a:ext uri="{FF2B5EF4-FFF2-40B4-BE49-F238E27FC236}">
                <a16:creationId xmlns:a16="http://schemas.microsoft.com/office/drawing/2014/main" id="{B75CE56F-1E38-7F2B-189A-32A1A77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6360" y="5405387"/>
            <a:ext cx="764848" cy="44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sz="1000" b="1"/>
              <a:t>Step 3</a:t>
            </a:r>
            <a:endParaRPr sz="1000" kern="100"/>
          </a:p>
        </p:txBody>
      </p:sp>
      <p:sp>
        <p:nvSpPr>
          <p:cNvPr id="17" name="텍스트 상자 2">
            <a:extLst xmlns:a="http://schemas.openxmlformats.org/drawingml/2006/main">
              <a:ext uri="{FF2B5EF4-FFF2-40B4-BE49-F238E27FC236}">
                <a16:creationId xmlns:a16="http://schemas.microsoft.com/office/drawing/2014/main" id="{481653EC-7889-7E87-C333-4D71023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4509" y="5389800"/>
            <a:ext cx="764848" cy="44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sz="1000" b="1"/>
              <a:t>Step 4</a:t>
            </a:r>
            <a:endParaRPr sz="1000" kern="100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DAD40-1D08-4AF1-B079-1D3799C0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9061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학습 기록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초기 설정과 단계별 보상 설정의 학습 곡선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638E8-1F59-4C22-A0B6-5E5F15EC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0505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505050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05050"/>
                </a:solidFill>
                <a:latin typeface="NanumGothic"/>
                <a:ea typeface="NanumGothic"/>
                <a:cs typeface="NanumGothic"/>
              </a:rPr>
              <a:t>단계마다 보상 기준이 달라지므로, 총 보상은 동일 조건의 성능 지표와 구분해 해석했습니다.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974336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CF551B-535F-CC48-629D-CB70C0624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3200"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>
              <a:defRPr sz="3200">
                <a:latin typeface="Trebuchet MS"/>
                <a:ea typeface="Trebuchet MS"/>
                <a:cs typeface="Trebuchet MS"/>
              </a:defRPr>
            </a:pPr>
            <a:r>
              <a:rPr sz="3200">
                <a:latin typeface="Trebuchet MS"/>
                <a:ea typeface="Trebuchet MS"/>
                <a:cs typeface="Trebuchet MS"/>
              </a:rPr>
              <a:t>Learning Issues</a:t>
            </a:r>
            <a:endParaRPr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A2EB1-DD76-4ACC-921E-895968D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066800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여러 조건을 동시에 적용한 초기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음수 보상이 자주 발생하고 에피소드별 보상 변동이 큼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물품 종류부터 시작해 조건을 단계적으로 추가하도록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경험 재생 메모리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저장 용량을 3,000개에서 12,000개로 확장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현재 상태, 행동, 보상, 다음 상태, 종료 여부를 저장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무작위로 추출한 경험을 네트워크 학습에 사용</a:t>
            </a:r>
          </a:p>
        </p:txBody>
      </p:sp>
    </p:spTree>
    <p:extLst>
      <p:ext uri="{BB962C8B-B14F-4D97-AF65-F5344CB8AC3E}">
        <p14:creationId xmlns:p14="http://schemas.microsoft.com/office/powerpoint/2010/main" val="16999386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DB40418-3F5B-A0D2-C9FC-C89FDA411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3200">
                <a:latin typeface="Trebuchet MS"/>
                <a:ea typeface="Trebuchet MS"/>
                <a:cs typeface="Trebuchet MS"/>
              </a:defRPr>
            </a:defPPr>
          </a:lstStyle>
          <a:p xmlns:a="http://schemas.openxmlformats.org/drawingml/2006/main">
            <a:pPr>
              <a:defRPr sz="3200">
                <a:latin typeface="Trebuchet MS"/>
                <a:ea typeface="Trebuchet MS"/>
                <a:cs typeface="Trebuchet MS"/>
              </a:defRPr>
            </a:pPr>
            <a:r>
              <a:rPr sz="3200">
                <a:latin typeface="Trebuchet MS"/>
                <a:ea typeface="Trebuchet MS"/>
                <a:cs typeface="Trebuchet MS"/>
              </a:rPr>
              <a:t>Implementation &amp; Future Work</a:t>
            </a:r>
            <a:endParaRPr/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D56A5-36C4-45E6-A80C-1F09832D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066800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구현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2층 창고 환경과 DQN 에이전트 연결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물품 특성에 따른 단계별 보상 함수 구현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학습 보상 그래프와 층별 배치 화면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향후 과제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같은 평가 조건에서 무작위·규칙 기반 배치와 비교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주문 날짜와 출고 순서를 반영한 환경 구성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000000"/>
                </a:solidFill>
                <a:latin typeface="NanumGothic"/>
                <a:ea typeface="NanumGothic"/>
                <a:cs typeface="NanumGothic"/>
              </a:rPr>
              <a:t>길이·폭·높이를 고려한 3차원 적재 문제로 확장</a:t>
            </a:r>
          </a:p>
        </p:txBody>
      </p:sp>
    </p:spTree>
    <p:extLst>
      <p:ext uri="{BB962C8B-B14F-4D97-AF65-F5344CB8AC3E}">
        <p14:creationId xmlns:p14="http://schemas.microsoft.com/office/powerpoint/2010/main" val="266915735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2026-10-09T08:09:59.4970000Z</dcterms:created>
  <dcterms:modified xsi:type="dcterms:W3CDTF">2026-10-09T08:09:59.4970000Z</dcterms:modified>
</coreProperties>
</file>